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7.svg" ContentType="image/svg+xml"/>
  <Override PartName="/ppt/media/image18.svg" ContentType="image/svg+xml"/>
  <Override PartName="/ppt/media/image20.svg" ContentType="image/svg+xml"/>
  <Override PartName="/ppt/media/image21.svg" ContentType="image/svg+xml"/>
  <Override PartName="/ppt/media/image22.svg" ContentType="image/svg+xml"/>
  <Override PartName="/ppt/media/image23.svg" ContentType="image/svg+xml"/>
  <Override PartName="/ppt/media/image24.svg" ContentType="image/svg+xml"/>
  <Override PartName="/ppt/media/image2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1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Neue Haas Grotesk Text Pro" panose="020B0504020202020204" pitchFamily="34" charset="0"/>
      <p:regular r:id="rId13"/>
    </p:embeddedFont>
    <p:embeddedFont>
      <p:font typeface="Noto Sans" panose="020B0502040504020204" pitchFamily="34" charset="0"/>
      <p:regular r:id="rId14"/>
    </p:embeddedFont>
    <p:embeddedFont>
      <p:font typeface="Noto Sans Bold" panose="020B0802040504020204" charset="0"/>
      <p:regular r:id="rId15"/>
    </p:embeddedFont>
    <p:embeddedFont>
      <p:font typeface="Sora Medium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84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4021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" y="5176159"/>
            <a:ext cx="11640312" cy="84549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313" y="5980176"/>
            <a:ext cx="11612880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50AF6FA-7D1D-1351-A76E-43C54D28FD6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66700"/>
            <a:ext cx="11649456" cy="4853814"/>
          </a:xfrm>
          <a:custGeom>
            <a:avLst/>
            <a:gdLst>
              <a:gd name="connsiteX0" fmla="*/ 291520 w 11651080"/>
              <a:gd name="connsiteY0" fmla="*/ 0 h 4853814"/>
              <a:gd name="connsiteX1" fmla="*/ 11359560 w 11651080"/>
              <a:gd name="connsiteY1" fmla="*/ 0 h 4853814"/>
              <a:gd name="connsiteX2" fmla="*/ 11651080 w 11651080"/>
              <a:gd name="connsiteY2" fmla="*/ 291520 h 4853814"/>
              <a:gd name="connsiteX3" fmla="*/ 11651080 w 11651080"/>
              <a:gd name="connsiteY3" fmla="*/ 4562294 h 4853814"/>
              <a:gd name="connsiteX4" fmla="*/ 11359560 w 11651080"/>
              <a:gd name="connsiteY4" fmla="*/ 4853814 h 4853814"/>
              <a:gd name="connsiteX5" fmla="*/ 291520 w 11651080"/>
              <a:gd name="connsiteY5" fmla="*/ 4853814 h 4853814"/>
              <a:gd name="connsiteX6" fmla="*/ 0 w 11651080"/>
              <a:gd name="connsiteY6" fmla="*/ 4562294 h 4853814"/>
              <a:gd name="connsiteX7" fmla="*/ 0 w 11651080"/>
              <a:gd name="connsiteY7" fmla="*/ 291520 h 4853814"/>
              <a:gd name="connsiteX8" fmla="*/ 291520 w 11651080"/>
              <a:gd name="connsiteY8" fmla="*/ 0 h 4853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4853814">
                <a:moveTo>
                  <a:pt x="291520" y="0"/>
                </a:moveTo>
                <a:lnTo>
                  <a:pt x="11359560" y="0"/>
                </a:lnTo>
                <a:cubicBezTo>
                  <a:pt x="11520562" y="0"/>
                  <a:pt x="11651080" y="130518"/>
                  <a:pt x="11651080" y="291520"/>
                </a:cubicBezTo>
                <a:lnTo>
                  <a:pt x="11651080" y="4562294"/>
                </a:lnTo>
                <a:cubicBezTo>
                  <a:pt x="11651080" y="4723296"/>
                  <a:pt x="11520562" y="4853814"/>
                  <a:pt x="11359560" y="4853814"/>
                </a:cubicBezTo>
                <a:lnTo>
                  <a:pt x="291520" y="4853814"/>
                </a:lnTo>
                <a:cubicBezTo>
                  <a:pt x="130518" y="4853814"/>
                  <a:pt x="0" y="4723296"/>
                  <a:pt x="0" y="4562294"/>
                </a:cubicBezTo>
                <a:lnTo>
                  <a:pt x="0" y="291520"/>
                </a:lnTo>
                <a:cubicBezTo>
                  <a:pt x="0" y="130518"/>
                  <a:pt x="130518" y="0"/>
                  <a:pt x="291520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91657"/>
            <a:ext cx="2805405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37848" y="6391657"/>
            <a:ext cx="3494314" cy="330466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  <a:effectLst/>
              </a:defRPr>
            </a:lvl1pPr>
          </a:lstStyle>
          <a:p>
            <a:fld id="{9961397C-706D-4EB8-B1E1-D1B680D284C3}" type="datetime1">
              <a:rPr lang="en-US" smtClean="0"/>
              <a:t>8/6/2026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391657"/>
            <a:ext cx="429207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6489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B6F81-747A-40C6-B81B-62F051B20082}" type="datetime1">
              <a:rPr lang="en-US" smtClean="0"/>
              <a:t>8/6/2026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44255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0262" y="208754"/>
            <a:ext cx="4066072" cy="372593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8729" y="4846320"/>
            <a:ext cx="4066072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A934108-77F2-43A6-38EF-C1CDEDD103C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6699"/>
            <a:ext cx="7238998" cy="6322891"/>
          </a:xfrm>
          <a:custGeom>
            <a:avLst/>
            <a:gdLst>
              <a:gd name="connsiteX0" fmla="*/ 291359 w 7238998"/>
              <a:gd name="connsiteY0" fmla="*/ 0 h 6322891"/>
              <a:gd name="connsiteX1" fmla="*/ 6947639 w 7238998"/>
              <a:gd name="connsiteY1" fmla="*/ 0 h 6322891"/>
              <a:gd name="connsiteX2" fmla="*/ 7238998 w 7238998"/>
              <a:gd name="connsiteY2" fmla="*/ 291359 h 6322891"/>
              <a:gd name="connsiteX3" fmla="*/ 7238998 w 7238998"/>
              <a:gd name="connsiteY3" fmla="*/ 6031532 h 6322891"/>
              <a:gd name="connsiteX4" fmla="*/ 6947639 w 7238998"/>
              <a:gd name="connsiteY4" fmla="*/ 6322891 h 6322891"/>
              <a:gd name="connsiteX5" fmla="*/ 291359 w 7238998"/>
              <a:gd name="connsiteY5" fmla="*/ 6322891 h 6322891"/>
              <a:gd name="connsiteX6" fmla="*/ 0 w 7238998"/>
              <a:gd name="connsiteY6" fmla="*/ 6031532 h 6322891"/>
              <a:gd name="connsiteX7" fmla="*/ 0 w 7238998"/>
              <a:gd name="connsiteY7" fmla="*/ 291359 h 6322891"/>
              <a:gd name="connsiteX8" fmla="*/ 291359 w 7238998"/>
              <a:gd name="connsiteY8" fmla="*/ 0 h 6322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38998" h="6322891">
                <a:moveTo>
                  <a:pt x="291359" y="0"/>
                </a:moveTo>
                <a:lnTo>
                  <a:pt x="6947639" y="0"/>
                </a:lnTo>
                <a:cubicBezTo>
                  <a:pt x="7108552" y="0"/>
                  <a:pt x="7238998" y="130446"/>
                  <a:pt x="7238998" y="291359"/>
                </a:cubicBezTo>
                <a:lnTo>
                  <a:pt x="7238998" y="6031532"/>
                </a:lnTo>
                <a:cubicBezTo>
                  <a:pt x="7238998" y="6192445"/>
                  <a:pt x="7108552" y="6322891"/>
                  <a:pt x="6947639" y="6322891"/>
                </a:cubicBezTo>
                <a:lnTo>
                  <a:pt x="291359" y="6322891"/>
                </a:lnTo>
                <a:cubicBezTo>
                  <a:pt x="130446" y="6322891"/>
                  <a:pt x="0" y="6192445"/>
                  <a:pt x="0" y="6031532"/>
                </a:cubicBezTo>
                <a:lnTo>
                  <a:pt x="0" y="291359"/>
                </a:lnTo>
                <a:cubicBezTo>
                  <a:pt x="0" y="130446"/>
                  <a:pt x="130446" y="0"/>
                  <a:pt x="29135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66481" y="639165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639165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DB19E114-DE0F-4D79-972B-16F4D1534B50}" type="datetime1">
              <a:rPr lang="en-US" smtClean="0"/>
              <a:t>8/6/2026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6388837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6044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8598" y="1529542"/>
            <a:ext cx="8154804" cy="2323883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0715" y="4053504"/>
            <a:ext cx="5970570" cy="107267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54ACAC3-7932-4379-B917-F7F78C6F24BE}" type="datetime1">
              <a:rPr lang="en-US" smtClean="0"/>
              <a:t>8/6/2026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8321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beçalho da Se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29" y="3200400"/>
            <a:ext cx="9002895" cy="3582184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4" y="14121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14121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BB9144B-27A2-4831-A05B-9434A462331E}" type="datetime1">
              <a:rPr lang="en-US" smtClean="0"/>
              <a:t>8/6/2026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141216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27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15" y="189689"/>
            <a:ext cx="11341905" cy="1629485"/>
          </a:xfrm>
        </p:spPr>
        <p:txBody>
          <a:bodyPr anchor="t">
            <a:normAutofit/>
          </a:bodyPr>
          <a:lstStyle>
            <a:lvl1pPr>
              <a:defRPr sz="760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2362200"/>
            <a:ext cx="5829300" cy="3810000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sz="16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600" dirty="0"/>
            </a:lvl4pPr>
            <a:lvl5pPr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95950-DBB3-436C-A1DD-7D3C30A336E3}" type="datetime1">
              <a:rPr lang="en-US" smtClean="0"/>
              <a:t>8/6/2026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9010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4061862"/>
            <a:ext cx="5913120" cy="2268359"/>
          </a:xfrm>
        </p:spPr>
        <p:txBody>
          <a:bodyPr anchor="t">
            <a:normAutofit/>
          </a:bodyPr>
          <a:lstStyle>
            <a:lvl1pPr>
              <a:defRPr sz="5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88BC23C-4171-DFCF-3175-10D2602FF56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74320" y="268508"/>
            <a:ext cx="11649456" cy="3609085"/>
          </a:xfrm>
          <a:custGeom>
            <a:avLst/>
            <a:gdLst>
              <a:gd name="connsiteX0" fmla="*/ 283385 w 11658600"/>
              <a:gd name="connsiteY0" fmla="*/ 0 h 3609085"/>
              <a:gd name="connsiteX1" fmla="*/ 11375215 w 11658600"/>
              <a:gd name="connsiteY1" fmla="*/ 0 h 3609085"/>
              <a:gd name="connsiteX2" fmla="*/ 11658600 w 11658600"/>
              <a:gd name="connsiteY2" fmla="*/ 283385 h 3609085"/>
              <a:gd name="connsiteX3" fmla="*/ 11658600 w 11658600"/>
              <a:gd name="connsiteY3" fmla="*/ 3325700 h 3609085"/>
              <a:gd name="connsiteX4" fmla="*/ 11375215 w 11658600"/>
              <a:gd name="connsiteY4" fmla="*/ 3609085 h 3609085"/>
              <a:gd name="connsiteX5" fmla="*/ 283385 w 11658600"/>
              <a:gd name="connsiteY5" fmla="*/ 3609085 h 3609085"/>
              <a:gd name="connsiteX6" fmla="*/ 0 w 11658600"/>
              <a:gd name="connsiteY6" fmla="*/ 3325700 h 3609085"/>
              <a:gd name="connsiteX7" fmla="*/ 0 w 11658600"/>
              <a:gd name="connsiteY7" fmla="*/ 283385 h 3609085"/>
              <a:gd name="connsiteX8" fmla="*/ 283385 w 11658600"/>
              <a:gd name="connsiteY8" fmla="*/ 0 h 3609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8600" h="3609085">
                <a:moveTo>
                  <a:pt x="283385" y="0"/>
                </a:moveTo>
                <a:lnTo>
                  <a:pt x="11375215" y="0"/>
                </a:lnTo>
                <a:cubicBezTo>
                  <a:pt x="11531724" y="0"/>
                  <a:pt x="11658600" y="126876"/>
                  <a:pt x="11658600" y="283385"/>
                </a:cubicBezTo>
                <a:lnTo>
                  <a:pt x="11658600" y="3325700"/>
                </a:lnTo>
                <a:cubicBezTo>
                  <a:pt x="11658600" y="3482209"/>
                  <a:pt x="11531724" y="3609085"/>
                  <a:pt x="11375215" y="3609085"/>
                </a:cubicBezTo>
                <a:lnTo>
                  <a:pt x="283385" y="3609085"/>
                </a:lnTo>
                <a:cubicBezTo>
                  <a:pt x="126876" y="3609085"/>
                  <a:pt x="0" y="3482209"/>
                  <a:pt x="0" y="3325700"/>
                </a:cubicBezTo>
                <a:lnTo>
                  <a:pt x="0" y="283385"/>
                </a:lnTo>
                <a:cubicBezTo>
                  <a:pt x="0" y="126876"/>
                  <a:pt x="126876" y="0"/>
                  <a:pt x="28338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15973" y="4039118"/>
            <a:ext cx="4419601" cy="2268360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400" dirty="0"/>
            </a:lvl1pPr>
            <a:lvl2pPr marL="571500" indent="-342900">
              <a:buFont typeface="+mj-lt"/>
              <a:buAutoNum type="arabicPeriod"/>
              <a:defRPr lang="en-US" sz="1400" dirty="0"/>
            </a:lvl2pPr>
            <a:lvl3pPr marL="800100" indent="-342900">
              <a:buFont typeface="+mj-lt"/>
              <a:buAutoNum type="arabicPeriod"/>
              <a:defRPr lang="en-US" sz="14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marL="228600" lvl="0" indent="-228600"/>
            <a:r>
              <a:rPr lang="pt-BR"/>
              <a:t>Clique para editar os estilos de texto Mestres</a:t>
            </a:r>
          </a:p>
          <a:p>
            <a:pPr marL="228600" lvl="1" indent="-228600"/>
            <a:r>
              <a:rPr lang="pt-BR"/>
              <a:t>Segundo nível</a:t>
            </a:r>
          </a:p>
          <a:p>
            <a:pPr marL="228600" lvl="2" indent="-228600"/>
            <a:r>
              <a:rPr lang="pt-BR"/>
              <a:t>Terceiro nível</a:t>
            </a:r>
          </a:p>
          <a:p>
            <a:pPr marL="228600" lvl="3" indent="-228600"/>
            <a:r>
              <a:rPr lang="pt-BR"/>
              <a:t>Quarto nível</a:t>
            </a:r>
          </a:p>
          <a:p>
            <a:pPr marL="228600" lvl="4" indent="-22860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7737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CDF8E-0DD2-43D3-8D07-9F3C411EACC9}" type="datetime1">
              <a:rPr lang="en-US" smtClean="0"/>
              <a:t>8/6/2026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6722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131" y="1638299"/>
            <a:ext cx="3314700" cy="3873268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1019" y="1638299"/>
            <a:ext cx="6080760" cy="387326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B97BB-FABD-465F-A92A-114DD4401A7A}" type="datetime1">
              <a:rPr lang="en-US" smtClean="0"/>
              <a:t>8/6/2026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62316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310394" cy="4058127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72674" y="266700"/>
            <a:ext cx="7688495" cy="604783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A6678-B47B-4355-B5D6-D7B9669114D3}" type="datetime1">
              <a:rPr lang="en-US" smtClean="0"/>
              <a:t>8/6/2026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55889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525" y="219456"/>
            <a:ext cx="6376547" cy="1066006"/>
          </a:xfrm>
        </p:spPr>
        <p:txBody>
          <a:bodyPr anchor="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C455FC9-9346-2F53-C58C-5C64036CD9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4419600" cy="6325969"/>
          </a:xfrm>
          <a:custGeom>
            <a:avLst/>
            <a:gdLst>
              <a:gd name="connsiteX0" fmla="*/ 300746 w 4381500"/>
              <a:gd name="connsiteY0" fmla="*/ 0 h 6290961"/>
              <a:gd name="connsiteX1" fmla="*/ 4080754 w 4381500"/>
              <a:gd name="connsiteY1" fmla="*/ 0 h 6290961"/>
              <a:gd name="connsiteX2" fmla="*/ 4381500 w 4381500"/>
              <a:gd name="connsiteY2" fmla="*/ 300746 h 6290961"/>
              <a:gd name="connsiteX3" fmla="*/ 4381500 w 4381500"/>
              <a:gd name="connsiteY3" fmla="*/ 5990215 h 6290961"/>
              <a:gd name="connsiteX4" fmla="*/ 4080754 w 4381500"/>
              <a:gd name="connsiteY4" fmla="*/ 6290961 h 6290961"/>
              <a:gd name="connsiteX5" fmla="*/ 300746 w 4381500"/>
              <a:gd name="connsiteY5" fmla="*/ 6290961 h 6290961"/>
              <a:gd name="connsiteX6" fmla="*/ 0 w 4381500"/>
              <a:gd name="connsiteY6" fmla="*/ 5990215 h 6290961"/>
              <a:gd name="connsiteX7" fmla="*/ 0 w 4381500"/>
              <a:gd name="connsiteY7" fmla="*/ 300746 h 6290961"/>
              <a:gd name="connsiteX8" fmla="*/ 300746 w 4381500"/>
              <a:gd name="connsiteY8" fmla="*/ 0 h 6290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81500" h="6290961">
                <a:moveTo>
                  <a:pt x="300746" y="0"/>
                </a:moveTo>
                <a:lnTo>
                  <a:pt x="4080754" y="0"/>
                </a:lnTo>
                <a:cubicBezTo>
                  <a:pt x="4246851" y="0"/>
                  <a:pt x="4381500" y="134649"/>
                  <a:pt x="4381500" y="300746"/>
                </a:cubicBezTo>
                <a:lnTo>
                  <a:pt x="4381500" y="5990215"/>
                </a:lnTo>
                <a:cubicBezTo>
                  <a:pt x="4381500" y="6156312"/>
                  <a:pt x="4246851" y="6290961"/>
                  <a:pt x="4080754" y="6290961"/>
                </a:cubicBezTo>
                <a:lnTo>
                  <a:pt x="300746" y="6290961"/>
                </a:lnTo>
                <a:cubicBezTo>
                  <a:pt x="134649" y="6290961"/>
                  <a:pt x="0" y="6156312"/>
                  <a:pt x="0" y="5990215"/>
                </a:cubicBezTo>
                <a:lnTo>
                  <a:pt x="0" y="300746"/>
                </a:lnTo>
                <a:cubicBezTo>
                  <a:pt x="0" y="134649"/>
                  <a:pt x="134649" y="0"/>
                  <a:pt x="3007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19526" y="1285462"/>
            <a:ext cx="6376546" cy="4986355"/>
          </a:xfrm>
        </p:spPr>
        <p:txBody>
          <a:bodyPr anchor="b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19526" y="6387737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C4801C4-BD33-47CA-B204-FEE9BA7A0B92}" type="datetime1">
              <a:rPr lang="en-US" smtClean="0"/>
              <a:t>8/6/2026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1611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702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FC55F3DB-E75F-ADDF-8222-D3F62F2CCE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4 h 6320854"/>
              <a:gd name="connsiteX10" fmla="*/ 105939 w 3675888"/>
              <a:gd name="connsiteY10" fmla="*/ 6252721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7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4"/>
                </a:lnTo>
                <a:lnTo>
                  <a:pt x="105939" y="6252721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7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88702" y="1143000"/>
            <a:ext cx="7241298" cy="5239512"/>
          </a:xfrm>
        </p:spPr>
        <p:txBody>
          <a:bodyPr anchor="b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88702" y="6382981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7BBC631-32E9-41B5-A4D6-F9BADFAA6AF1}" type="datetime1">
              <a:rPr lang="en-US" smtClean="0"/>
              <a:t>8/6/2026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76675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2880" y="1143000"/>
            <a:ext cx="7241298" cy="5239512"/>
          </a:xfrm>
        </p:spPr>
        <p:txBody>
          <a:bodyPr anchor="b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2981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92093" y="6387128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84DF367-E34D-4C28-A660-DCABBED01BCF}" type="datetime1">
              <a:rPr lang="en-US" smtClean="0"/>
              <a:t>8/6/2026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4177" y="6387128"/>
            <a:ext cx="457200" cy="338328"/>
          </a:xfrm>
        </p:spPr>
        <p:txBody>
          <a:bodyPr/>
          <a:lstStyle/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F47C8A4F-E753-8148-3650-49C421EB54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249412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3 h 6320854"/>
              <a:gd name="connsiteX10" fmla="*/ 105939 w 3675888"/>
              <a:gd name="connsiteY10" fmla="*/ 6252722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8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3"/>
                </a:lnTo>
                <a:lnTo>
                  <a:pt x="105939" y="6252722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8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1629070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5" y="219456"/>
            <a:ext cx="4717429" cy="1180888"/>
          </a:xfrm>
        </p:spPr>
        <p:txBody>
          <a:bodyPr anchor="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5" y="1400344"/>
            <a:ext cx="4729045" cy="4871473"/>
          </a:xfrm>
        </p:spPr>
        <p:txBody>
          <a:bodyPr anchor="b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88172" y="6390795"/>
            <a:ext cx="1298784" cy="338328"/>
          </a:xfrm>
        </p:spPr>
        <p:txBody>
          <a:bodyPr/>
          <a:lstStyle/>
          <a:p>
            <a:fld id="{5489A3B8-AADB-439D-85B5-E9ACAFD37972}" type="datetime1">
              <a:rPr lang="en-US" smtClean="0"/>
              <a:t>8/6/2026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86956" y="6390795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00703" y="266700"/>
            <a:ext cx="6324469" cy="6324600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1049630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220869"/>
            <a:ext cx="3208020" cy="3088635"/>
          </a:xfrm>
        </p:spPr>
        <p:txBody>
          <a:bodyPr anchor="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86300" y="266700"/>
            <a:ext cx="3500538" cy="63246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61087" y="220870"/>
            <a:ext cx="3200400" cy="6055554"/>
          </a:xfrm>
        </p:spPr>
        <p:txBody>
          <a:bodyPr anchor="b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8399-DE27-4A8B-8419-0512D16F4926}" type="datetime1">
              <a:rPr lang="en-US" smtClean="0"/>
              <a:t>8/6/2026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74997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3755" y="219456"/>
            <a:ext cx="3891435" cy="1225339"/>
          </a:xfrm>
        </p:spPr>
        <p:txBody>
          <a:bodyPr anchor="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3BE62AC-2855-BB28-0282-25CA658273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0473" y="265176"/>
            <a:ext cx="6984636" cy="6327648"/>
          </a:xfrm>
          <a:custGeom>
            <a:avLst/>
            <a:gdLst>
              <a:gd name="connsiteX0" fmla="*/ 302565 w 7228936"/>
              <a:gd name="connsiteY0" fmla="*/ 0 h 6316602"/>
              <a:gd name="connsiteX1" fmla="*/ 6926371 w 7228936"/>
              <a:gd name="connsiteY1" fmla="*/ 0 h 6316602"/>
              <a:gd name="connsiteX2" fmla="*/ 7228936 w 7228936"/>
              <a:gd name="connsiteY2" fmla="*/ 302565 h 6316602"/>
              <a:gd name="connsiteX3" fmla="*/ 7228936 w 7228936"/>
              <a:gd name="connsiteY3" fmla="*/ 6014037 h 6316602"/>
              <a:gd name="connsiteX4" fmla="*/ 6926371 w 7228936"/>
              <a:gd name="connsiteY4" fmla="*/ 6316602 h 6316602"/>
              <a:gd name="connsiteX5" fmla="*/ 302565 w 7228936"/>
              <a:gd name="connsiteY5" fmla="*/ 6316602 h 6316602"/>
              <a:gd name="connsiteX6" fmla="*/ 0 w 7228936"/>
              <a:gd name="connsiteY6" fmla="*/ 6014037 h 6316602"/>
              <a:gd name="connsiteX7" fmla="*/ 0 w 7228936"/>
              <a:gd name="connsiteY7" fmla="*/ 302565 h 6316602"/>
              <a:gd name="connsiteX8" fmla="*/ 302565 w 7228936"/>
              <a:gd name="connsiteY8" fmla="*/ 0 h 631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28936" h="6316602">
                <a:moveTo>
                  <a:pt x="302565" y="0"/>
                </a:moveTo>
                <a:lnTo>
                  <a:pt x="6926371" y="0"/>
                </a:lnTo>
                <a:cubicBezTo>
                  <a:pt x="7093473" y="0"/>
                  <a:pt x="7228936" y="135463"/>
                  <a:pt x="7228936" y="302565"/>
                </a:cubicBezTo>
                <a:lnTo>
                  <a:pt x="7228936" y="6014037"/>
                </a:lnTo>
                <a:cubicBezTo>
                  <a:pt x="7228936" y="6181139"/>
                  <a:pt x="7093473" y="6316602"/>
                  <a:pt x="6926371" y="6316602"/>
                </a:cubicBezTo>
                <a:lnTo>
                  <a:pt x="302565" y="6316602"/>
                </a:lnTo>
                <a:cubicBezTo>
                  <a:pt x="135463" y="6316602"/>
                  <a:pt x="0" y="6181139"/>
                  <a:pt x="0" y="6014037"/>
                </a:cubicBezTo>
                <a:lnTo>
                  <a:pt x="0" y="302565"/>
                </a:lnTo>
                <a:cubicBezTo>
                  <a:pt x="0" y="135463"/>
                  <a:pt x="135463" y="0"/>
                  <a:pt x="30256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13753" y="1435652"/>
            <a:ext cx="3891435" cy="4833862"/>
          </a:xfrm>
        </p:spPr>
        <p:txBody>
          <a:bodyPr anchor="b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15079" y="6387128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9F43114-67DF-4FA3-9285-385EAC7FCBCA}" type="datetime1">
              <a:rPr lang="en-US" smtClean="0"/>
              <a:t>8/6/2026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16824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4" y="219456"/>
            <a:ext cx="3234982" cy="1577218"/>
          </a:xfrm>
        </p:spPr>
        <p:txBody>
          <a:bodyPr anchor="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4" y="1796675"/>
            <a:ext cx="3234982" cy="447147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5" y="6387128"/>
            <a:ext cx="2095770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06416" y="6390795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B0B5C10-8896-4A25-9ADC-0DE16BEA40F9}" type="datetime1">
              <a:rPr lang="en-US" smtClean="0"/>
              <a:t>8/6/2026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38500" y="6390795"/>
            <a:ext cx="457200" cy="338328"/>
          </a:xfrm>
        </p:spPr>
        <p:txBody>
          <a:bodyPr/>
          <a:lstStyle/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965783" y="265176"/>
            <a:ext cx="7959517" cy="6327648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5818828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78" y="216452"/>
            <a:ext cx="3381587" cy="2213524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62400" y="177492"/>
            <a:ext cx="7962900" cy="22860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5878" y="2513464"/>
            <a:ext cx="2805405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30339" y="2516244"/>
            <a:ext cx="1284010" cy="338328"/>
          </a:xfrm>
        </p:spPr>
        <p:txBody>
          <a:bodyPr/>
          <a:lstStyle/>
          <a:p>
            <a:fld id="{70D4BFA2-1BB9-40F7-B5CD-27AF3FC15B4F}" type="datetime1">
              <a:rPr lang="en-US" smtClean="0"/>
              <a:t>8/6/2026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5" y="2513464"/>
            <a:ext cx="449306" cy="338328"/>
          </a:xfrm>
        </p:spPr>
        <p:txBody>
          <a:bodyPr/>
          <a:lstStyle/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56056E-3484-D9D0-95D5-818FF4C3C8D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935280"/>
            <a:ext cx="11651080" cy="3656020"/>
          </a:xfrm>
          <a:custGeom>
            <a:avLst/>
            <a:gdLst>
              <a:gd name="connsiteX0" fmla="*/ 298989 w 11651080"/>
              <a:gd name="connsiteY0" fmla="*/ 0 h 3656020"/>
              <a:gd name="connsiteX1" fmla="*/ 11352091 w 11651080"/>
              <a:gd name="connsiteY1" fmla="*/ 0 h 3656020"/>
              <a:gd name="connsiteX2" fmla="*/ 11651080 w 11651080"/>
              <a:gd name="connsiteY2" fmla="*/ 298989 h 3656020"/>
              <a:gd name="connsiteX3" fmla="*/ 11651080 w 11651080"/>
              <a:gd name="connsiteY3" fmla="*/ 3357031 h 3656020"/>
              <a:gd name="connsiteX4" fmla="*/ 11352091 w 11651080"/>
              <a:gd name="connsiteY4" fmla="*/ 3656020 h 3656020"/>
              <a:gd name="connsiteX5" fmla="*/ 298989 w 11651080"/>
              <a:gd name="connsiteY5" fmla="*/ 3656020 h 3656020"/>
              <a:gd name="connsiteX6" fmla="*/ 0 w 11651080"/>
              <a:gd name="connsiteY6" fmla="*/ 3357031 h 3656020"/>
              <a:gd name="connsiteX7" fmla="*/ 0 w 11651080"/>
              <a:gd name="connsiteY7" fmla="*/ 298989 h 3656020"/>
              <a:gd name="connsiteX8" fmla="*/ 298989 w 11651080"/>
              <a:gd name="connsiteY8" fmla="*/ 0 h 3656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3656020">
                <a:moveTo>
                  <a:pt x="298989" y="0"/>
                </a:moveTo>
                <a:lnTo>
                  <a:pt x="11352091" y="0"/>
                </a:lnTo>
                <a:cubicBezTo>
                  <a:pt x="11517218" y="0"/>
                  <a:pt x="11651080" y="133862"/>
                  <a:pt x="11651080" y="298989"/>
                </a:cubicBezTo>
                <a:lnTo>
                  <a:pt x="11651080" y="3357031"/>
                </a:lnTo>
                <a:cubicBezTo>
                  <a:pt x="11651080" y="3522158"/>
                  <a:pt x="11517218" y="3656020"/>
                  <a:pt x="11352091" y="3656020"/>
                </a:cubicBezTo>
                <a:lnTo>
                  <a:pt x="298989" y="3656020"/>
                </a:lnTo>
                <a:cubicBezTo>
                  <a:pt x="133862" y="3656020"/>
                  <a:pt x="0" y="3522158"/>
                  <a:pt x="0" y="3357031"/>
                </a:cubicBezTo>
                <a:lnTo>
                  <a:pt x="0" y="298989"/>
                </a:lnTo>
                <a:cubicBezTo>
                  <a:pt x="0" y="133862"/>
                  <a:pt x="133862" y="0"/>
                  <a:pt x="29898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91237409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172641" cy="3145019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95997E6-BE07-E83F-D207-0CADA004E02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000500" y="265332"/>
            <a:ext cx="7924800" cy="3095837"/>
          </a:xfrm>
          <a:custGeom>
            <a:avLst/>
            <a:gdLst>
              <a:gd name="connsiteX0" fmla="*/ 282309 w 8229600"/>
              <a:gd name="connsiteY0" fmla="*/ 0 h 3095837"/>
              <a:gd name="connsiteX1" fmla="*/ 7947291 w 8229600"/>
              <a:gd name="connsiteY1" fmla="*/ 0 h 3095837"/>
              <a:gd name="connsiteX2" fmla="*/ 8229600 w 8229600"/>
              <a:gd name="connsiteY2" fmla="*/ 282309 h 3095837"/>
              <a:gd name="connsiteX3" fmla="*/ 8229600 w 8229600"/>
              <a:gd name="connsiteY3" fmla="*/ 2813528 h 3095837"/>
              <a:gd name="connsiteX4" fmla="*/ 7947291 w 8229600"/>
              <a:gd name="connsiteY4" fmla="*/ 3095837 h 3095837"/>
              <a:gd name="connsiteX5" fmla="*/ 282309 w 8229600"/>
              <a:gd name="connsiteY5" fmla="*/ 3095837 h 3095837"/>
              <a:gd name="connsiteX6" fmla="*/ 0 w 8229600"/>
              <a:gd name="connsiteY6" fmla="*/ 2813528 h 3095837"/>
              <a:gd name="connsiteX7" fmla="*/ 0 w 8229600"/>
              <a:gd name="connsiteY7" fmla="*/ 282309 h 3095837"/>
              <a:gd name="connsiteX8" fmla="*/ 282309 w 8229600"/>
              <a:gd name="connsiteY8" fmla="*/ 0 h 3095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9600" h="3095837">
                <a:moveTo>
                  <a:pt x="282309" y="0"/>
                </a:moveTo>
                <a:lnTo>
                  <a:pt x="7947291" y="0"/>
                </a:lnTo>
                <a:cubicBezTo>
                  <a:pt x="8103206" y="0"/>
                  <a:pt x="8229600" y="126394"/>
                  <a:pt x="8229600" y="282309"/>
                </a:cubicBezTo>
                <a:lnTo>
                  <a:pt x="8229600" y="2813528"/>
                </a:lnTo>
                <a:cubicBezTo>
                  <a:pt x="8229600" y="2969443"/>
                  <a:pt x="8103206" y="3095837"/>
                  <a:pt x="7947291" y="3095837"/>
                </a:cubicBezTo>
                <a:lnTo>
                  <a:pt x="282309" y="3095837"/>
                </a:lnTo>
                <a:cubicBezTo>
                  <a:pt x="126394" y="3095837"/>
                  <a:pt x="0" y="2969443"/>
                  <a:pt x="0" y="2813528"/>
                </a:cubicBezTo>
                <a:lnTo>
                  <a:pt x="0" y="282309"/>
                </a:lnTo>
                <a:cubicBezTo>
                  <a:pt x="0" y="126394"/>
                  <a:pt x="126394" y="0"/>
                  <a:pt x="28230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14565" y="3543597"/>
            <a:ext cx="8010734" cy="28435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0CB68-2046-4562-B6CE-CDFAB3DC51F3}" type="datetime1">
              <a:rPr lang="en-US" smtClean="0"/>
              <a:t>8/6/2026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162175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5778B4-3E3F-C3EF-5322-2ECFF646D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31821" y="760151"/>
            <a:ext cx="9728359" cy="4233673"/>
          </a:xfrm>
          <a:prstGeom prst="roundRect">
            <a:avLst>
              <a:gd name="adj" fmla="val 7502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276" y="5255159"/>
            <a:ext cx="9299448" cy="1025326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2400" spc="-50" baseline="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46276" y="1293091"/>
            <a:ext cx="9299448" cy="394392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260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BB35E-97D9-4AD8-9F03-F1A28F5EDD3F}" type="datetime1">
              <a:rPr lang="en-US" smtClean="0"/>
              <a:t>8/6/2026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425783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2880" y="173736"/>
            <a:ext cx="10475499" cy="4850651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600" b="0" cap="none" spc="-50" baseline="0"/>
            </a:lvl1pPr>
            <a:lvl2pPr marL="228600" indent="0">
              <a:lnSpc>
                <a:spcPct val="90000"/>
              </a:lnSpc>
              <a:buNone/>
              <a:defRPr sz="6600" b="0" cap="none" spc="-50" baseline="0"/>
            </a:lvl2pPr>
            <a:lvl3pPr marL="457200" indent="0">
              <a:lnSpc>
                <a:spcPct val="90000"/>
              </a:lnSpc>
              <a:buNone/>
              <a:defRPr sz="6000" b="0" cap="none" spc="-50" baseline="0"/>
            </a:lvl3pPr>
            <a:lvl4pPr marL="685800" indent="0">
              <a:lnSpc>
                <a:spcPct val="90000"/>
              </a:lnSpc>
              <a:buNone/>
              <a:defRPr sz="5400" b="0" cap="none" spc="-50" baseline="0"/>
            </a:lvl4pPr>
            <a:lvl5pPr marL="914400" indent="0">
              <a:lnSpc>
                <a:spcPct val="90000"/>
              </a:lnSpc>
              <a:buNone/>
              <a:defRPr sz="4800" b="0" cap="none" spc="-50" baseline="0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FC429-4D23-430E-9EDF-7373AE75BFEE}" type="datetime1">
              <a:rPr lang="en-US" smtClean="0"/>
              <a:t>8/6/2026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477826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8784" y="5029200"/>
            <a:ext cx="9198864" cy="713232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2000" b="1" spc="-5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88784" y="1115568"/>
            <a:ext cx="9198864" cy="358444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5E6B9-2D9C-4660-92C5-78965463CC8F}" type="datetime1">
              <a:rPr lang="en-US" smtClean="0"/>
              <a:t>8/6/2026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217725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1326704" cy="1041564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2E940BF-81C2-1FFB-391F-670B2E738E5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2880" y="1645920"/>
            <a:ext cx="5420409" cy="4741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FB763AB3-1DFB-9F9F-2339-33F3C49C8C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8400" y="1645920"/>
            <a:ext cx="5261184" cy="4741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B9CE9-04E1-4A30-9610-62B3B25B32C1}" type="datetime1">
              <a:rPr lang="en-US" smtClean="0"/>
              <a:t>8/6/2026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117676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86" y="219456"/>
            <a:ext cx="11274552" cy="78985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185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6A39E64-722E-F001-F641-974F5225314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1631" y="1649451"/>
            <a:ext cx="5212080" cy="43434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5352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B9C0BFD-5C7B-FA0D-DCE8-95D24728FEB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5352" y="1649451"/>
            <a:ext cx="5212080" cy="43434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7DEDC-8F58-44F8-A177-8A00C8A4C6DB}" type="datetime1">
              <a:rPr lang="en-US" smtClean="0"/>
              <a:t>8/6/2026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54640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95DE8-BB4A-408C-A60C-374B496D02BA}" type="datetime1">
              <a:rPr lang="en-US" smtClean="0"/>
              <a:t>8/6/2026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741144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C9DBE-31FF-4D71-B719-92EBAC3193CE}" type="datetime1">
              <a:rPr lang="en-US" smtClean="0"/>
              <a:t>8/6/2026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191718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861" y="207228"/>
            <a:ext cx="11001943" cy="1790700"/>
          </a:xfrm>
        </p:spPr>
        <p:txBody>
          <a:bodyPr anchor="t">
            <a:noAutofit/>
          </a:bodyPr>
          <a:lstStyle>
            <a:lvl1pPr>
              <a:defRPr sz="7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22195" y="3264408"/>
            <a:ext cx="10147610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CF504-FC97-4D7A-ADA4-4D7971A47BF8}" type="datetime1">
              <a:rPr lang="en-US" smtClean="0"/>
              <a:t>8/6/2026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2176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5580" y="1089247"/>
            <a:ext cx="6360840" cy="2171716"/>
          </a:xfrm>
        </p:spPr>
        <p:txBody>
          <a:bodyPr anchor="b">
            <a:noAutofit/>
          </a:bodyPr>
          <a:lstStyle>
            <a:lvl1pPr algn="ctr">
              <a:defRPr sz="7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22864" y="3499880"/>
            <a:ext cx="5543550" cy="177165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sz="1600" dirty="0"/>
            </a:lvl1pPr>
            <a:lvl2pPr marL="228600" indent="0" algn="ctr">
              <a:buNone/>
              <a:defRPr lang="en-US" sz="1600" dirty="0"/>
            </a:lvl2pPr>
            <a:lvl3pPr marL="457200" indent="0" algn="ctr">
              <a:buNone/>
              <a:defRPr lang="en-US" sz="1600" dirty="0"/>
            </a:lvl3pPr>
            <a:lvl4pPr marL="685800" indent="0" algn="ctr">
              <a:buNone/>
              <a:defRPr lang="en-US" sz="1600" dirty="0"/>
            </a:lvl4pPr>
            <a:lvl5pPr marL="914400" indent="0" algn="ctr">
              <a:buNone/>
              <a:defRPr lang="en-US" sz="1600" dirty="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DD06E-1834-4525-8B00-CED1355A3638}" type="datetime1">
              <a:rPr lang="en-US" smtClean="0"/>
              <a:t>8/6/2026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7227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572438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9692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" y="1183206"/>
            <a:ext cx="10835640" cy="5088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704" y="6387128"/>
            <a:ext cx="2703777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7500" y="6387128"/>
            <a:ext cx="10320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0C9DF407-AAD9-4F9F-B512-267BEB339CF5}" type="datetime1">
              <a:rPr lang="en-US" smtClean="0"/>
              <a:t>8/6/2026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9584" y="6387128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989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76" r:id="rId25"/>
    <p:sldLayoutId id="2147483677" r:id="rId26"/>
    <p:sldLayoutId id="2147483678" r:id="rId27"/>
    <p:sldLayoutId id="2147483679" r:id="rId28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715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01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68">
          <p15:clr>
            <a:srgbClr val="F26B43"/>
          </p15:clr>
        </p15:guide>
        <p15:guide id="4" orient="horz" pos="168">
          <p15:clr>
            <a:srgbClr val="F26B43"/>
          </p15:clr>
        </p15:guide>
        <p15:guide id="5" pos="7512">
          <p15:clr>
            <a:srgbClr val="F26B43"/>
          </p15:clr>
        </p15:guide>
        <p15:guide id="6" orient="horz" pos="4152">
          <p15:clr>
            <a:srgbClr val="F26B43"/>
          </p15:clr>
        </p15:guide>
        <p15:guide id="12" pos="4728">
          <p15:clr>
            <a:srgbClr val="F26B43"/>
          </p15:clr>
        </p15:guide>
        <p15:guide id="13" pos="5328">
          <p15:clr>
            <a:srgbClr val="F26B43"/>
          </p15:clr>
        </p15:guide>
        <p15:guide id="26" pos="2952">
          <p15:clr>
            <a:srgbClr val="F26B43"/>
          </p15:clr>
        </p15:guide>
        <p15:guide id="27" pos="3096">
          <p15:clr>
            <a:srgbClr val="F26B43"/>
          </p15:clr>
        </p15:guide>
        <p15:guide id="29" pos="4128">
          <p15:clr>
            <a:srgbClr val="F26B43"/>
          </p15:clr>
        </p15:guide>
        <p15:guide id="30" pos="1392">
          <p15:clr>
            <a:srgbClr val="F26B43"/>
          </p15:clr>
        </p15:guide>
        <p15:guide id="31" pos="864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eg"/><Relationship Id="rId4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svg"/><Relationship Id="rId4" Type="http://schemas.openxmlformats.org/officeDocument/2006/relationships/image" Target="../media/image12.svg"/><Relationship Id="rId5" Type="http://schemas.openxmlformats.org/officeDocument/2006/relationships/image" Target="../media/image13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svg"/><Relationship Id="rId4" Type="http://schemas.openxmlformats.org/officeDocument/2006/relationships/image" Target="../media/image15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jpeg"/><Relationship Id="rId4" Type="http://schemas.openxmlformats.org/officeDocument/2006/relationships/image" Target="../media/image17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jpeg"/><Relationship Id="rId4" Type="http://schemas.openxmlformats.org/officeDocument/2006/relationships/image" Target="../media/image20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svg"/><Relationship Id="rId4" Type="http://schemas.openxmlformats.org/officeDocument/2006/relationships/image" Target="../media/image22.svg"/><Relationship Id="rId5" Type="http://schemas.openxmlformats.org/officeDocument/2006/relationships/image" Target="../media/image23.svg"/><Relationship Id="rId6" Type="http://schemas.openxmlformats.org/officeDocument/2006/relationships/image" Target="../media/image24.svg"/><Relationship Id="rId7" Type="http://schemas.openxmlformats.org/officeDocument/2006/relationships/image" Target="../media/image25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075134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gradFill flip="none" rotWithShape="1">
                  <a:gsLst>
                    <a:gs pos="0">
                      <a:srgbClr val="00B0F0"/>
                    </a:gs>
                    <a:gs pos="100000">
                      <a:srgbClr val="7030A0"/>
                    </a:gs>
                  </a:gsLst>
                  <a:lin ang="13500000" scaled="1"/>
                  <a:tileRect/>
                </a:gra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IntraTech</a:t>
            </a:r>
            <a:endParaRPr lang="en-US" sz="3700" dirty="0">
              <a:gradFill flip="none" rotWithShape="1">
                <a:gsLst>
                  <a:gs pos="0">
                    <a:srgbClr val="00B0F0"/>
                  </a:gs>
                  <a:gs pos="100000">
                    <a:srgbClr val="7030A0"/>
                  </a:gs>
                </a:gsLst>
                <a:lin ang="13500000" scaled="1"/>
                <a:tileRect/>
              </a:gra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5233360" y="1949252"/>
            <a:ext cx="6296860" cy="2445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100" dirty="0">
                <a:gradFill flip="none" rotWithShape="1">
                  <a:gsLst>
                    <a:gs pos="0">
                      <a:srgbClr val="00B0F0"/>
                    </a:gs>
                    <a:gs pos="100000">
                      <a:srgbClr val="7030A0"/>
                    </a:gs>
                  </a:gsLst>
                  <a:lin ang="13500000" scaled="1"/>
                  <a:tileRect/>
                </a:gra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Monte seu PC Gamer sem complicação</a:t>
            </a:r>
            <a:endParaRPr lang="en-US" sz="5100" dirty="0">
              <a:gradFill flip="none" rotWithShape="1">
                <a:gsLst>
                  <a:gs pos="0">
                    <a:srgbClr val="00B0F0"/>
                  </a:gs>
                  <a:gs pos="100000">
                    <a:srgbClr val="7030A0"/>
                  </a:gs>
                </a:gsLst>
                <a:lin ang="13500000" scaled="1"/>
                <a:tileRect/>
              </a:gra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5233360" y="4678263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t>Um MVP em Java que verifica compatibilidade, estima desempenho e organiza sua build em um só lugar.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233360" y="5495727"/>
            <a:ext cx="4194765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97B8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5346765" y="5552380"/>
            <a:ext cx="457754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97B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PROJETO INTEGRADOR · TECNOLOGIA DA INFORMAÇÃO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75667"/>
            <a:ext cx="6296860" cy="523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t>Contexto do MVP</a:t>
            </a:r>
            <a:endParaRPr lang="en-US" sz="3250" dirty="0">
              <a:gradFill flip="none" rotWithShape="1">
                <a:gsLst>
                  <a:gs pos="0">
                    <a:srgbClr val="00B0F0"/>
                  </a:gs>
                  <a:gs pos="100000">
                    <a:srgbClr val="7030A0"/>
                  </a:gs>
                </a:gsLst>
                <a:lin ang="13500000" scaled="1"/>
                <a:tileRect/>
              </a:gra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814268" y="1405136"/>
            <a:ext cx="2750077" cy="552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t>MVP</a:t>
            </a:r>
            <a:endParaRPr lang="en-US" sz="4350" dirty="0"/>
          </a:p>
        </p:txBody>
      </p:sp>
      <p:sp>
        <p:nvSpPr>
          <p:cNvPr id="5" name="Text 2"/>
          <p:cNvSpPr/>
          <p:nvPr/>
        </p:nvSpPr>
        <p:spPr>
          <a:xfrm>
            <a:off x="661475" y="2152650"/>
            <a:ext cx="3055663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t>Projeto acadêmico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61475" y="2503289"/>
            <a:ext cx="3055663" cy="505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6000"/>
              </a:lnSpc>
              <a:buNone/>
            </a:pPr>
            <a:r>
              <a:t>Problema real e público-alvo definido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055366" y="1405136"/>
            <a:ext cx="2750176" cy="552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t>Java</a:t>
            </a:r>
            <a:endParaRPr lang="en-US" sz="4350" dirty="0"/>
          </a:p>
        </p:txBody>
      </p:sp>
      <p:sp>
        <p:nvSpPr>
          <p:cNvPr id="8" name="Text 5"/>
          <p:cNvSpPr/>
          <p:nvPr/>
        </p:nvSpPr>
        <p:spPr>
          <a:xfrm>
            <a:off x="3902573" y="2152650"/>
            <a:ext cx="3055762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t>Tecnologia principal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902573" y="2503289"/>
            <a:ext cx="3055762" cy="252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6000"/>
              </a:lnSpc>
              <a:buNone/>
            </a:pPr>
            <a:r>
              <a:t>Aplicação de console com MySQL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434767" y="3388816"/>
            <a:ext cx="2750176" cy="552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t>3</a:t>
            </a:r>
            <a:endParaRPr lang="en-US" sz="4350" dirty="0"/>
          </a:p>
        </p:txBody>
      </p:sp>
      <p:sp>
        <p:nvSpPr>
          <p:cNvPr id="11" name="Text 8"/>
          <p:cNvSpPr/>
          <p:nvPr/>
        </p:nvSpPr>
        <p:spPr>
          <a:xfrm>
            <a:off x="2281974" y="4136330"/>
            <a:ext cx="3055762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t>Riscos centrais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281974" y="4486970"/>
            <a:ext cx="3055762" cy="505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6000"/>
              </a:lnSpc>
              <a:buNone/>
            </a:pPr>
            <a:r>
              <a:t>Compatibilidade, custo e desempenho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61475" y="5159077"/>
            <a:ext cx="6296860" cy="1123156"/>
          </a:xfrm>
          <a:prstGeom prst="roundRect">
            <a:avLst>
              <a:gd name="adj" fmla="val 2236"/>
            </a:avLst>
          </a:prstGeom>
          <a:solidFill>
            <a:srgbClr val="00288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853" y="5393134"/>
            <a:ext cx="209247" cy="16738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205478" y="5349180"/>
            <a:ext cx="5585479" cy="757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t>Informações de montagem costumam estar fragmentadas e podem ser difíceis de comparar para quem está começando.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798314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gradFill flip="none" rotWithShape="1">
                  <a:gsLst>
                    <a:gs pos="0">
                      <a:srgbClr val="00B0F0"/>
                    </a:gs>
                    <a:gs pos="100000">
                      <a:srgbClr val="7030A0"/>
                    </a:gs>
                  </a:gsLst>
                  <a:lin ang="13500000" scaled="1"/>
                  <a:tileRect/>
                </a:gra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O Problema</a:t>
            </a:r>
            <a:endParaRPr lang="en-US" sz="3700" dirty="0">
              <a:gradFill flip="none" rotWithShape="1">
                <a:gsLst>
                  <a:gs pos="0">
                    <a:srgbClr val="00B0F0"/>
                  </a:gs>
                  <a:gs pos="100000">
                    <a:srgbClr val="7030A0"/>
                  </a:gs>
                </a:gsLst>
                <a:lin ang="13500000" scaled="1"/>
                <a:tileRect/>
              </a:gra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661475" y="1672431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Montar um PC Gamer exige navegar por múltiplos sites, planilhas e vídeos técnicos. O processo consome horas e ainda pode resultar em </a:t>
            </a:r>
            <a:r>
              <a:rPr lang="en-US" sz="14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erros de compatibilidade</a:t>
            </a: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entre peças.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2792313"/>
            <a:ext cx="3053877" cy="1989237"/>
          </a:xfrm>
          <a:prstGeom prst="roundRect">
            <a:avLst>
              <a:gd name="adj" fmla="val 1425"/>
            </a:avLst>
          </a:prstGeom>
          <a:solidFill>
            <a:srgbClr val="2626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850482" y="2981325"/>
            <a:ext cx="267586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Pesquisa Fragmentada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0482" y="3685282"/>
            <a:ext cx="26758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Informações espalhadas em dezenas de fontes diferentes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3904359" y="2792313"/>
            <a:ext cx="3053976" cy="1989237"/>
          </a:xfrm>
          <a:prstGeom prst="roundRect">
            <a:avLst>
              <a:gd name="adj" fmla="val 1425"/>
            </a:avLst>
          </a:prstGeom>
          <a:solidFill>
            <a:srgbClr val="2626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4093366" y="2981325"/>
            <a:ext cx="267596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Risco de Incompatibilidade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4093366" y="3685282"/>
            <a:ext cx="267596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Peças que não funcionam juntas são compradas por engano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61475" y="4970562"/>
            <a:ext cx="6296860" cy="1089124"/>
          </a:xfrm>
          <a:prstGeom prst="roundRect">
            <a:avLst>
              <a:gd name="adj" fmla="val 2603"/>
            </a:avLst>
          </a:prstGeom>
          <a:solidFill>
            <a:srgbClr val="2626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850482" y="5159573"/>
            <a:ext cx="59188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Sem Estimativa de Desempenho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850482" y="5568255"/>
            <a:ext cx="59188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t>Difícil comparar o desempenho provável entre configurações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7440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gradFill flip="none" rotWithShape="1">
                  <a:gsLst>
                    <a:gs pos="0">
                      <a:srgbClr val="00B0F0"/>
                    </a:gs>
                    <a:gs pos="100000">
                      <a:srgbClr val="7030A0"/>
                    </a:gs>
                  </a:gsLst>
                  <a:lin ang="13500000" scaled="1"/>
                  <a:tileRect/>
                </a:gra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 Solução: IntraTech</a:t>
            </a:r>
            <a:endParaRPr lang="en-US" sz="3700" dirty="0">
              <a:gradFill flip="none" rotWithShape="1">
                <a:gsLst>
                  <a:gs pos="0">
                    <a:srgbClr val="00B0F0"/>
                  </a:gs>
                  <a:gs pos="100000">
                    <a:srgbClr val="7030A0"/>
                  </a:gs>
                </a:gsLst>
                <a:lin ang="13500000" scaled="1"/>
                <a:tileRect/>
              </a:gra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75" y="2543076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t>Uma aplicação de console que centraliza cadastro, validação e análise básica de builds de PC.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058120"/>
            <a:ext cx="378014" cy="37802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3672384"/>
            <a:ext cx="346542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Compatibilidade Automática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4376341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t>Valida socket, geração DDR e potência recomendada da fonte antes de salvar a build.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3058120"/>
            <a:ext cx="378014" cy="37802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63135" y="3672384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Estimativa de FPS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4363135" y="4081066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t>Produz uma estimativa heurística a partir dos índices cadastrados para CPU, GPU e jogo.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4794" y="3058120"/>
            <a:ext cx="378014" cy="37802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64794" y="3672384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Orçamento e Preço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8064794" y="4081066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t>Soma os preços informados manualmente para os componentes da build.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2973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gradFill flip="none" rotWithShape="1">
                  <a:gsLst>
                    <a:gs pos="0">
                      <a:srgbClr val="00B0F0"/>
                    </a:gs>
                    <a:gs pos="100000">
                      <a:srgbClr val="7030A0"/>
                    </a:gs>
                  </a:gsLst>
                  <a:lin ang="13500000" scaled="1"/>
                  <a:tileRect/>
                </a:gra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Objetivos do Projeto</a:t>
            </a:r>
            <a:endParaRPr lang="en-US" sz="3300" dirty="0">
              <a:gradFill flip="none" rotWithShape="1">
                <a:gsLst>
                  <a:gs pos="0">
                    <a:srgbClr val="00B0F0"/>
                  </a:gs>
                  <a:gs pos="100000">
                    <a:srgbClr val="7030A0"/>
                  </a:gs>
                </a:gsLst>
                <a:lin ang="13500000" scaled="1"/>
                <a:tileRect/>
              </a:gra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39042" y="1374180"/>
            <a:ext cx="5471777" cy="1455284"/>
          </a:xfrm>
          <a:prstGeom prst="roundRect">
            <a:avLst>
              <a:gd name="adj" fmla="val 524"/>
            </a:avLst>
          </a:prstGeom>
          <a:gradFill>
            <a:gsLst>
              <a:gs pos="0">
                <a:srgbClr val="00B0F0"/>
              </a:gs>
              <a:gs pos="100000">
                <a:srgbClr val="7030A0"/>
              </a:gs>
            </a:gsLst>
            <a:lin ang="13500000" scaled="1"/>
          </a:gra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09099" y="1527274"/>
            <a:ext cx="5131664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Times New Roman" panose="02020603050405020304" pitchFamily="18" charset="0"/>
                <a:ea typeface="Twemoji Mozilla" pitchFamily="34" charset="-122"/>
                <a:cs typeface="Times New Roman" panose="02020603050405020304" pitchFamily="18" charset="0"/>
              </a:rPr>
              <a:t>🎯</a:t>
            </a:r>
            <a:r>
              <a:rPr lang="en-US" sz="165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Objetivo Geral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09099" y="1952427"/>
            <a:ext cx="5131664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Desenvolver um sistema que auxilie usuários na criação e organização de builds de PC Gamer, garantindo compatibilidade entre componentes e facilitando a escolha das peças ideais.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09659" y="1546423"/>
            <a:ext cx="5226911" cy="15790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74963" y="1735534"/>
            <a:ext cx="4772501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Times New Roman" panose="02020603050405020304" pitchFamily="18" charset="0"/>
                <a:ea typeface="Twemoji Mozilla" pitchFamily="34" charset="-122"/>
                <a:cs typeface="Times New Roman" panose="02020603050405020304" pitchFamily="18" charset="0"/>
              </a:rPr>
              <a:t>📦</a:t>
            </a:r>
            <a:r>
              <a:rPr lang="en-US" sz="16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Componentes Compatíveis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6574963" y="2160687"/>
            <a:ext cx="4772501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Auxiliar na escolha de peças que funcionam juntas, exibindo informações técnicas básicas de cada componente.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659" y="3278584"/>
            <a:ext cx="5226911" cy="132050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74963" y="3467695"/>
            <a:ext cx="4772501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t>💰 Custo da Build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6574963" y="3892848"/>
            <a:ext cx="477250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t>Calcular o preço total cadastrado e armazenar múltiplas builds.</a:t>
            </a:r>
            <a:endParaRPr lang="en-US" sz="13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659" y="4752181"/>
            <a:ext cx="5226911" cy="132050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574963" y="4941292"/>
            <a:ext cx="4772501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Times New Roman" panose="02020603050405020304" pitchFamily="18" charset="0"/>
                <a:ea typeface="Twemoji Mozilla" pitchFamily="34" charset="-122"/>
                <a:cs typeface="Times New Roman" panose="02020603050405020304" pitchFamily="18" charset="0"/>
              </a:rPr>
              <a:t>⚡</a:t>
            </a:r>
            <a:r>
              <a:rPr lang="en-US" sz="16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Desempenho e Consumo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6574963" y="5366445"/>
            <a:ext cx="477250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Exibir informações extras sobre desempenho estimado e consumo de energia da configuração.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3491"/>
            <a:ext cx="10868745" cy="423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gradFill flip="none" rotWithShape="1">
                  <a:gsLst>
                    <a:gs pos="0">
                      <a:srgbClr val="00B0F0"/>
                    </a:gs>
                    <a:gs pos="100000">
                      <a:srgbClr val="7030A0"/>
                    </a:gs>
                  </a:gsLst>
                  <a:lin ang="13500000" scaled="1"/>
                  <a:tileRect/>
                </a:gra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Visão Geral do Projeto</a:t>
            </a:r>
            <a:endParaRPr lang="en-US" sz="2650" dirty="0">
              <a:gradFill flip="none" rotWithShape="1">
                <a:gsLst>
                  <a:gs pos="0">
                    <a:srgbClr val="00B0F0"/>
                  </a:gs>
                  <a:gs pos="100000">
                    <a:srgbClr val="7030A0"/>
                  </a:gs>
                </a:gsLst>
                <a:lin ang="13500000" scaled="1"/>
                <a:tileRect/>
              </a:gra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75" y="1241524"/>
            <a:ext cx="11478330" cy="186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t>A IntraTech é um MVP de console para organizar computadores personalizados, considerando compatibilidade, consumo, custo e desempenho estimado.</a:t>
            </a: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46337"/>
            <a:ext cx="4478622" cy="4478734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67492" y="2660551"/>
            <a:ext cx="2585973" cy="117653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98269" y="2815134"/>
            <a:ext cx="2200617" cy="211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O que é?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6498269" y="3124101"/>
            <a:ext cx="2200617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t>Aplicação Java de console para montagem e validação de builds de PC.</a:t>
            </a:r>
            <a:endParaRPr lang="en-US" sz="10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50597" y="2660551"/>
            <a:ext cx="2585973" cy="117653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181374" y="2815134"/>
            <a:ext cx="2200617" cy="211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Qual problema resolve?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9181374" y="3124101"/>
            <a:ext cx="2200617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t>Centraliza informações e reduz erros nas regras de compatibilidade implementadas.</a:t>
            </a:r>
            <a:endParaRPr lang="en-US" sz="10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67492" y="3934222"/>
            <a:ext cx="2585973" cy="117653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498269" y="4088805"/>
            <a:ext cx="2200617" cy="211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Onde atua?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6498269" y="4397772"/>
            <a:ext cx="2200617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t>Cadastros locais, valores em reais e interface em Português Brasileiro.</a:t>
            </a:r>
            <a:endParaRPr lang="en-US" sz="10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50597" y="3934222"/>
            <a:ext cx="2585973" cy="117653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181374" y="4088805"/>
            <a:ext cx="2200617" cy="211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Diferenciais</a:t>
            </a:r>
            <a:endParaRPr lang="en-US" sz="1300" dirty="0"/>
          </a:p>
        </p:txBody>
      </p:sp>
      <p:sp>
        <p:nvSpPr>
          <p:cNvPr id="16" name="Text 9"/>
          <p:cNvSpPr/>
          <p:nvPr/>
        </p:nvSpPr>
        <p:spPr>
          <a:xfrm>
            <a:off x="9181374" y="4397772"/>
            <a:ext cx="2200617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t>Validação automática, custo total, consumo e estimativa heurística de FPS.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7134"/>
            <a:ext cx="10868745" cy="406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gradFill flip="none" rotWithShape="1">
                  <a:gsLst>
                    <a:gs pos="0">
                      <a:srgbClr val="00B0F0"/>
                    </a:gs>
                    <a:gs pos="100000">
                      <a:srgbClr val="7030A0"/>
                    </a:gs>
                  </a:gsLst>
                  <a:lin ang="13500000" scaled="1"/>
                  <a:tileRect/>
                </a:gra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Regras de Negócio</a:t>
            </a:r>
            <a:endParaRPr lang="en-US" sz="2550" dirty="0">
              <a:gradFill flip="none" rotWithShape="1">
                <a:gsLst>
                  <a:gs pos="0">
                    <a:srgbClr val="00B0F0"/>
                  </a:gs>
                  <a:gs pos="100000">
                    <a:srgbClr val="7030A0"/>
                  </a:gs>
                </a:gsLst>
                <a:lin ang="13500000" scaled="1"/>
                <a:tileRect/>
              </a:gradFill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153616"/>
            <a:ext cx="10868745" cy="7814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3239" y="1422202"/>
            <a:ext cx="195357" cy="2441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291101" y="1302841"/>
            <a:ext cx="10089898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Compatibilidade de Socket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291101" y="1560116"/>
            <a:ext cx="10089898" cy="176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Processadores devem possuir socket compatível com a placa-mãe selecionada.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024757"/>
            <a:ext cx="10868745" cy="7814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3239" y="2293342"/>
            <a:ext cx="195357" cy="2441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291101" y="2173982"/>
            <a:ext cx="10089898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Memória Compatível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1291101" y="2431256"/>
            <a:ext cx="10089898" cy="176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t>O tipo DDR da RAM deve ser suportado pela placa-mãe.</a:t>
            </a:r>
            <a:endParaRPr lang="en-US" sz="10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895898"/>
            <a:ext cx="10868745" cy="78144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43239" y="3164483"/>
            <a:ext cx="195357" cy="2441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1291101" y="3045123"/>
            <a:ext cx="10089898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Fonte Adequada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1291101" y="3302397"/>
            <a:ext cx="10089898" cy="176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fonte deve suportar o consumo energético estimado total da configuração.</a:t>
            </a:r>
            <a:endParaRPr lang="en-US" sz="10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767038"/>
            <a:ext cx="10868745" cy="78144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43239" y="4035623"/>
            <a:ext cx="195357" cy="2441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1291101" y="3916263"/>
            <a:ext cx="10089898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Bloqueio de Incompatibilidades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1291101" y="4173538"/>
            <a:ext cx="10089898" cy="176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 sistema impede combinações incompatíveis e alerta o usuário antes da confirmação.</a:t>
            </a:r>
            <a:endParaRPr lang="en-US" sz="10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638179"/>
            <a:ext cx="10868745" cy="781447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3239" y="4906764"/>
            <a:ext cx="195357" cy="2441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1291101" y="4787404"/>
            <a:ext cx="10089898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Salvamento de Montagens</a:t>
            </a:r>
            <a:endParaRPr lang="en-US" sz="1250" dirty="0"/>
          </a:p>
        </p:txBody>
      </p:sp>
      <p:sp>
        <p:nvSpPr>
          <p:cNvPr id="22" name="Text 15"/>
          <p:cNvSpPr/>
          <p:nvPr/>
        </p:nvSpPr>
        <p:spPr>
          <a:xfrm>
            <a:off x="1291101" y="5044678"/>
            <a:ext cx="10089898" cy="176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 usuário pode salvar, nomear e consultar suas builds a qualquer momento.</a:t>
            </a:r>
            <a:endParaRPr lang="en-US" sz="10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509320"/>
            <a:ext cx="10868745" cy="781447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43239" y="5777905"/>
            <a:ext cx="195357" cy="2441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6</a:t>
            </a:r>
            <a:endParaRPr lang="en-US" sz="1500" dirty="0"/>
          </a:p>
        </p:txBody>
      </p:sp>
      <p:sp>
        <p:nvSpPr>
          <p:cNvPr id="25" name="Text 17"/>
          <p:cNvSpPr/>
          <p:nvPr/>
        </p:nvSpPr>
        <p:spPr>
          <a:xfrm>
            <a:off x="1291101" y="5658545"/>
            <a:ext cx="10089898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t>Custo Total</a:t>
            </a:r>
            <a:endParaRPr lang="en-US" sz="1250" dirty="0"/>
          </a:p>
        </p:txBody>
      </p:sp>
      <p:sp>
        <p:nvSpPr>
          <p:cNvPr id="26" name="Text 18"/>
          <p:cNvSpPr/>
          <p:nvPr/>
        </p:nvSpPr>
        <p:spPr>
          <a:xfrm>
            <a:off x="1291101" y="5915819"/>
            <a:ext cx="10089898" cy="176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t>O sistema soma os preços cadastrados dos componentes selecionados.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9714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gradFill flip="none" rotWithShape="1">
                  <a:gsLst>
                    <a:gs pos="0">
                      <a:srgbClr val="00B0F0"/>
                    </a:gs>
                    <a:gs pos="100000">
                      <a:srgbClr val="7030A0"/>
                    </a:gs>
                  </a:gsLst>
                  <a:lin ang="13500000" scaled="1"/>
                  <a:tileRect/>
                </a:gra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Requisitos Funcionais</a:t>
            </a:r>
            <a:endParaRPr lang="en-US" sz="2900" dirty="0">
              <a:gradFill flip="none" rotWithShape="1">
                <a:gsLst>
                  <a:gs pos="0">
                    <a:srgbClr val="00B0F0"/>
                  </a:gs>
                  <a:gs pos="100000">
                    <a:srgbClr val="7030A0"/>
                  </a:gs>
                </a:gsLst>
                <a:lin ang="13500000" scaled="1"/>
                <a:tileRect/>
              </a:gradFill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5195" y="2176959"/>
            <a:ext cx="5549960" cy="3145036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24215" y="1347143"/>
            <a:ext cx="223237" cy="22324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452135" y="1342529"/>
            <a:ext cx="3084336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t>Cadastro de Usuários</a:t>
            </a:r>
            <a:endParaRPr lang="en-US" sz="1450" dirty="0"/>
          </a:p>
        </p:txBody>
      </p:sp>
      <p:sp>
        <p:nvSpPr>
          <p:cNvPr id="6" name="Text 2"/>
          <p:cNvSpPr/>
          <p:nvPr/>
        </p:nvSpPr>
        <p:spPr>
          <a:xfrm>
            <a:off x="8452135" y="1692176"/>
            <a:ext cx="3084336" cy="42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t>Cadastro local de usuários com senha protegida por PBKDF2; login é trabalho futuro.</a:t>
            </a:r>
            <a:endParaRPr lang="en-US" sz="11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24215" y="2356793"/>
            <a:ext cx="223237" cy="22324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452135" y="2352179"/>
            <a:ext cx="3084336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Gestão de Componentes</a:t>
            </a:r>
            <a:endParaRPr lang="en-US" sz="1450" dirty="0"/>
          </a:p>
        </p:txBody>
      </p:sp>
      <p:sp>
        <p:nvSpPr>
          <p:cNvPr id="9" name="Text 4"/>
          <p:cNvSpPr/>
          <p:nvPr/>
        </p:nvSpPr>
        <p:spPr>
          <a:xfrm>
            <a:off x="8452135" y="2701826"/>
            <a:ext cx="3084336" cy="42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t>Cadastro e listagem de processador, placa-mãe, GPU, memória, SSD e fonte.</a:t>
            </a:r>
            <a:endParaRPr lang="en-US" sz="11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24215" y="3366443"/>
            <a:ext cx="223237" cy="22324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452135" y="3361829"/>
            <a:ext cx="3084336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Criação e Validação de Builds</a:t>
            </a:r>
            <a:endParaRPr lang="en-US" sz="1450" dirty="0"/>
          </a:p>
        </p:txBody>
      </p:sp>
      <p:sp>
        <p:nvSpPr>
          <p:cNvPr id="12" name="Text 6"/>
          <p:cNvSpPr/>
          <p:nvPr/>
        </p:nvSpPr>
        <p:spPr>
          <a:xfrm>
            <a:off x="8452135" y="3711476"/>
            <a:ext cx="3084336" cy="42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Montagem de configurações com validação automática de compatibilidade.</a:t>
            </a:r>
            <a:endParaRPr lang="en-US" sz="11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24215" y="4376093"/>
            <a:ext cx="223237" cy="22324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452135" y="4371479"/>
            <a:ext cx="3084336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Cálculo de Consumo e FPS</a:t>
            </a:r>
            <a:endParaRPr lang="en-US" sz="1450" dirty="0"/>
          </a:p>
        </p:txBody>
      </p:sp>
      <p:sp>
        <p:nvSpPr>
          <p:cNvPr id="15" name="Text 8"/>
          <p:cNvSpPr/>
          <p:nvPr/>
        </p:nvSpPr>
        <p:spPr>
          <a:xfrm>
            <a:off x="8452135" y="4721126"/>
            <a:ext cx="3084336" cy="42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Estimativa de consumo energético e desempenho em jogos populares.</a:t>
            </a:r>
            <a:endParaRPr lang="en-US" sz="11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24215" y="5385743"/>
            <a:ext cx="223237" cy="223242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8452135" y="5381129"/>
            <a:ext cx="3084336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t>Gestão e Favoritos</a:t>
            </a:r>
            <a:endParaRPr lang="en-US" sz="1450" dirty="0"/>
          </a:p>
        </p:txBody>
      </p:sp>
      <p:sp>
        <p:nvSpPr>
          <p:cNvPr id="18" name="Text 10"/>
          <p:cNvSpPr/>
          <p:nvPr/>
        </p:nvSpPr>
        <p:spPr>
          <a:xfrm>
            <a:off x="8452135" y="5730776"/>
            <a:ext cx="3084336" cy="42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t>Criar, consultar, atualizar, excluir e marcar builds como favoritas.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135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gradFill flip="none" rotWithShape="1">
                  <a:gsLst>
                    <a:gs pos="0">
                      <a:srgbClr val="00B0F0"/>
                    </a:gs>
                    <a:gs pos="100000">
                      <a:srgbClr val="7030A0"/>
                    </a:gs>
                  </a:gsLst>
                  <a:lin ang="13500000" scaled="1"/>
                  <a:tileRect/>
                </a:gra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Requisitos Não Funcionais</a:t>
            </a:r>
            <a:endParaRPr lang="en-US" sz="3700" dirty="0">
              <a:gradFill flip="none" rotWithShape="1">
                <a:gsLst>
                  <a:gs pos="0">
                    <a:srgbClr val="00B0F0"/>
                  </a:gs>
                  <a:gs pos="100000">
                    <a:srgbClr val="7030A0"/>
                  </a:gs>
                </a:gsLst>
                <a:lin ang="13500000" scaled="1"/>
                <a:tileRect/>
              </a:gra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661475" y="1520031"/>
            <a:ext cx="3496877" cy="2450009"/>
          </a:xfrm>
          <a:prstGeom prst="roundRect">
            <a:avLst>
              <a:gd name="adj" fmla="val 1157"/>
            </a:avLst>
          </a:prstGeom>
          <a:solidFill>
            <a:srgbClr val="2626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850482" y="1709043"/>
            <a:ext cx="567021" cy="567035"/>
          </a:xfrm>
          <a:prstGeom prst="ellipse">
            <a:avLst/>
          </a:prstGeom>
          <a:gradFill>
            <a:gsLst>
              <a:gs pos="0">
                <a:srgbClr val="00B0F0"/>
              </a:gs>
              <a:gs pos="100000">
                <a:srgbClr val="7030A0"/>
              </a:gs>
            </a:gsLst>
            <a:lin ang="13500000" scaled="1"/>
          </a:gra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6450" y="1864916"/>
            <a:ext cx="255085" cy="2550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0482" y="2465090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t>Qualidade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0482" y="2873772"/>
            <a:ext cx="31188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t>Build Maven reproduzível e 14 testes unitários automatizados.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347359" y="1520031"/>
            <a:ext cx="3496877" cy="2450009"/>
          </a:xfrm>
          <a:prstGeom prst="roundRect">
            <a:avLst>
              <a:gd name="adj" fmla="val 1157"/>
            </a:avLst>
          </a:prstGeom>
          <a:solidFill>
            <a:srgbClr val="2626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4536366" y="1709043"/>
            <a:ext cx="567021" cy="567035"/>
          </a:xfrm>
          <a:prstGeom prst="ellipse">
            <a:avLst/>
          </a:prstGeom>
          <a:gradFill>
            <a:gsLst>
              <a:gs pos="0">
                <a:srgbClr val="00B0F0"/>
              </a:gs>
              <a:gs pos="100000">
                <a:srgbClr val="7030A0"/>
              </a:gs>
            </a:gsLst>
            <a:lin ang="13500000" scaled="1"/>
          </a:gradFill>
          <a:ln/>
        </p:spPr>
        <p:txBody>
          <a:bodyPr/>
          <a:lstStyle/>
          <a:p>
            <a:endParaRPr lang="pt-B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2334" y="1864916"/>
            <a:ext cx="255085" cy="2550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36366" y="2465090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Usabilidade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4536366" y="2873772"/>
            <a:ext cx="31188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t>Menu de terminal com validação de entradas e mensagens em Português.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8033244" y="1520031"/>
            <a:ext cx="3496877" cy="2450009"/>
          </a:xfrm>
          <a:prstGeom prst="roundRect">
            <a:avLst>
              <a:gd name="adj" fmla="val 1157"/>
            </a:avLst>
          </a:prstGeom>
          <a:solidFill>
            <a:srgbClr val="2626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0"/>
          <p:cNvSpPr/>
          <p:nvPr/>
        </p:nvSpPr>
        <p:spPr>
          <a:xfrm>
            <a:off x="8222251" y="1709043"/>
            <a:ext cx="567021" cy="567035"/>
          </a:xfrm>
          <a:prstGeom prst="ellipse">
            <a:avLst/>
          </a:prstGeom>
          <a:gradFill>
            <a:gsLst>
              <a:gs pos="0">
                <a:srgbClr val="00B0F0"/>
              </a:gs>
              <a:gs pos="100000">
                <a:srgbClr val="7030A0"/>
              </a:gs>
            </a:gsLst>
            <a:lin ang="13500000" scaled="1"/>
          </a:gradFill>
          <a:ln/>
        </p:spPr>
        <p:txBody>
          <a:bodyPr/>
          <a:lstStyle/>
          <a:p>
            <a:endParaRPr lang="pt-B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78219" y="1864916"/>
            <a:ext cx="255085" cy="2550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22251" y="2465090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Segurança</a:t>
            </a:r>
            <a:endParaRPr lang="en-US" sz="1850" dirty="0"/>
          </a:p>
        </p:txBody>
      </p:sp>
      <p:sp>
        <p:nvSpPr>
          <p:cNvPr id="17" name="Text 12"/>
          <p:cNvSpPr/>
          <p:nvPr/>
        </p:nvSpPr>
        <p:spPr>
          <a:xfrm>
            <a:off x="8222251" y="2873772"/>
            <a:ext cx="31188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t>Credenciais externas ao código, SQL parametrizado e hash de senha com salt.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661475" y="4159052"/>
            <a:ext cx="5339820" cy="2147590"/>
          </a:xfrm>
          <a:prstGeom prst="roundRect">
            <a:avLst>
              <a:gd name="adj" fmla="val 1320"/>
            </a:avLst>
          </a:prstGeom>
          <a:solidFill>
            <a:srgbClr val="2626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4"/>
          <p:cNvSpPr/>
          <p:nvPr/>
        </p:nvSpPr>
        <p:spPr>
          <a:xfrm>
            <a:off x="850482" y="4348063"/>
            <a:ext cx="567021" cy="567035"/>
          </a:xfrm>
          <a:prstGeom prst="ellipse">
            <a:avLst/>
          </a:prstGeom>
          <a:gradFill>
            <a:gsLst>
              <a:gs pos="0">
                <a:srgbClr val="00B0F0"/>
              </a:gs>
              <a:gs pos="100000">
                <a:srgbClr val="7030A0"/>
              </a:gs>
            </a:gsLst>
            <a:lin ang="13500000" scaled="1"/>
          </a:gradFill>
          <a:ln/>
        </p:spPr>
        <p:txBody>
          <a:bodyPr/>
          <a:lstStyle/>
          <a:p>
            <a:endParaRPr lang="pt-BR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6450" y="4503936"/>
            <a:ext cx="255085" cy="25509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50482" y="5104110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Manutenibilidade</a:t>
            </a:r>
            <a:endParaRPr lang="en-US" sz="1850" dirty="0"/>
          </a:p>
        </p:txBody>
      </p:sp>
      <p:sp>
        <p:nvSpPr>
          <p:cNvPr id="22" name="Text 16"/>
          <p:cNvSpPr/>
          <p:nvPr/>
        </p:nvSpPr>
        <p:spPr>
          <a:xfrm>
            <a:off x="850482" y="5512792"/>
            <a:ext cx="49618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t>Modelos, DAOs e serviços separados, com dependências gerenciadas por Maven.</a:t>
            </a:r>
            <a:endParaRPr lang="en-US" sz="1450" dirty="0"/>
          </a:p>
        </p:txBody>
      </p:sp>
      <p:sp>
        <p:nvSpPr>
          <p:cNvPr id="23" name="Shape 17"/>
          <p:cNvSpPr/>
          <p:nvPr/>
        </p:nvSpPr>
        <p:spPr>
          <a:xfrm>
            <a:off x="6190301" y="4159052"/>
            <a:ext cx="5339820" cy="2147590"/>
          </a:xfrm>
          <a:prstGeom prst="roundRect">
            <a:avLst>
              <a:gd name="adj" fmla="val 1320"/>
            </a:avLst>
          </a:prstGeom>
          <a:solidFill>
            <a:srgbClr val="2626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18"/>
          <p:cNvSpPr/>
          <p:nvPr/>
        </p:nvSpPr>
        <p:spPr>
          <a:xfrm>
            <a:off x="6379308" y="4348063"/>
            <a:ext cx="567021" cy="567035"/>
          </a:xfrm>
          <a:prstGeom prst="ellipse">
            <a:avLst/>
          </a:prstGeom>
          <a:gradFill>
            <a:gsLst>
              <a:gs pos="0">
                <a:srgbClr val="00B0F0"/>
              </a:gs>
              <a:gs pos="100000">
                <a:srgbClr val="7030A0"/>
              </a:gs>
            </a:gsLst>
            <a:lin ang="13500000" scaled="1"/>
          </a:gradFill>
          <a:ln/>
        </p:spPr>
        <p:txBody>
          <a:bodyPr/>
          <a:lstStyle/>
          <a:p>
            <a:endParaRPr lang="pt-BR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35276" y="4503936"/>
            <a:ext cx="255085" cy="25509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379308" y="5104110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Compatibilidade</a:t>
            </a:r>
            <a:endParaRPr lang="en-US" sz="1850" dirty="0"/>
          </a:p>
        </p:txBody>
      </p:sp>
      <p:sp>
        <p:nvSpPr>
          <p:cNvPr id="27" name="Text 20"/>
          <p:cNvSpPr/>
          <p:nvPr/>
        </p:nvSpPr>
        <p:spPr>
          <a:xfrm>
            <a:off x="6379308" y="5512792"/>
            <a:ext cx="49618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t>Requer Java 17, Maven 3.9+ e MySQL 8+; interface atual somente de console.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703560"/>
            <a:ext cx="6296860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gradFill flip="none" rotWithShape="1">
                  <a:gsLst>
                    <a:gs pos="0">
                      <a:srgbClr val="00B0F0"/>
                    </a:gs>
                    <a:gs pos="100000">
                      <a:srgbClr val="7030A0"/>
                    </a:gs>
                  </a:gsLst>
                  <a:lin ang="13500000" scaled="1"/>
                  <a:tileRect/>
                </a:gra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Conclusão</a:t>
            </a:r>
            <a:endParaRPr lang="en-US" sz="3300" dirty="0">
              <a:gradFill flip="none" rotWithShape="1">
                <a:gsLst>
                  <a:gs pos="0">
                    <a:srgbClr val="00B0F0"/>
                  </a:gs>
                  <a:gs pos="100000">
                    <a:srgbClr val="7030A0"/>
                  </a:gs>
                </a:gsLst>
                <a:lin ang="13500000" scaled="1"/>
                <a:tileRect/>
              </a:gradFill>
            </a:endParaRPr>
          </a:p>
        </p:txBody>
      </p:sp>
      <p:sp>
        <p:nvSpPr>
          <p:cNvPr id="4" name="Shape 1"/>
          <p:cNvSpPr/>
          <p:nvPr/>
        </p:nvSpPr>
        <p:spPr>
          <a:xfrm>
            <a:off x="661475" y="1464766"/>
            <a:ext cx="6296860" cy="3225006"/>
          </a:xfrm>
          <a:prstGeom prst="roundRect">
            <a:avLst>
              <a:gd name="adj" fmla="val 791"/>
            </a:avLst>
          </a:prstGeom>
          <a:solidFill>
            <a:srgbClr val="2626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2"/>
          <p:cNvSpPr/>
          <p:nvPr/>
        </p:nvSpPr>
        <p:spPr>
          <a:xfrm>
            <a:off x="661475" y="1464766"/>
            <a:ext cx="3148430" cy="2003921"/>
          </a:xfrm>
          <a:custGeom>
            <a:avLst/>
            <a:gdLst/>
            <a:ahLst/>
            <a:cxnLst/>
            <a:rect l="l" t="t" r="r" b="b"/>
            <a:pathLst>
              <a:path w="3148430" h="2003921">
                <a:moveTo>
                  <a:pt x="21265" y="0"/>
                </a:moveTo>
                <a:lnTo>
                  <a:pt x="3148430" y="0"/>
                </a:lnTo>
                <a:lnTo>
                  <a:pt x="3148430" y="2003921"/>
                </a:lnTo>
                <a:lnTo>
                  <a:pt x="0" y="2003921"/>
                </a:lnTo>
                <a:lnTo>
                  <a:pt x="0" y="21265"/>
                </a:lnTo>
                <a:arcTo wR="21265" hR="21265" stAng="10800000" swAng="5400000"/>
                <a:close/>
              </a:path>
            </a:pathLst>
          </a:custGeom>
          <a:solidFill>
            <a:srgbClr val="2626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831532" y="1634827"/>
            <a:ext cx="2808316" cy="537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Times New Roman" panose="02020603050405020304" pitchFamily="18" charset="0"/>
                <a:ea typeface="Twemoji Mozilla" pitchFamily="34" charset="-122"/>
                <a:cs typeface="Times New Roman" panose="02020603050405020304" pitchFamily="18" charset="0"/>
              </a:rPr>
              <a:t>🎮</a:t>
            </a:r>
            <a:r>
              <a:rPr lang="en-US" sz="16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Impacto para o Usuário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831532" y="2264370"/>
            <a:ext cx="2808316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t>Centraliza decisões e reduz erros de socket, memória e dimensionamento da fonte.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809905" y="1464766"/>
            <a:ext cx="3148430" cy="2003921"/>
          </a:xfrm>
          <a:custGeom>
            <a:avLst/>
            <a:gdLst/>
            <a:ahLst/>
            <a:cxnLst/>
            <a:rect l="l" t="t" r="r" b="b"/>
            <a:pathLst>
              <a:path w="3148430" h="2003921">
                <a:moveTo>
                  <a:pt x="0" y="0"/>
                </a:moveTo>
                <a:lnTo>
                  <a:pt x="3127165" y="0"/>
                </a:lnTo>
                <a:arcTo wR="21265" hR="21265" stAng="16200000" swAng="5400000"/>
                <a:lnTo>
                  <a:pt x="3148430" y="2003921"/>
                </a:lnTo>
                <a:lnTo>
                  <a:pt x="0" y="2003921"/>
                </a:lnTo>
                <a:lnTo>
                  <a:pt x="0" y="0"/>
                </a:lnTo>
                <a:close/>
              </a:path>
            </a:pathLst>
          </a:custGeom>
          <a:solidFill>
            <a:srgbClr val="2626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3809905" y="1464766"/>
            <a:ext cx="19050" cy="2003921"/>
          </a:xfrm>
          <a:prstGeom prst="roundRect">
            <a:avLst>
              <a:gd name="adj" fmla="val 49999"/>
            </a:avLst>
          </a:prstGeom>
          <a:solidFill>
            <a:srgbClr val="3F3F4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3979961" y="1634827"/>
            <a:ext cx="2808316" cy="537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t>✅ MVP Verificável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3979961" y="2264370"/>
            <a:ext cx="2808316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t>Regras de compatibilidade, consumo, custo e desempenho protegidas por testes automatizados.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61475" y="3468687"/>
            <a:ext cx="6296860" cy="1221085"/>
          </a:xfrm>
          <a:custGeom>
            <a:avLst/>
            <a:gdLst/>
            <a:ahLst/>
            <a:cxnLst/>
            <a:rect l="l" t="t" r="r" b="b"/>
            <a:pathLst>
              <a:path w="6296860" h="1221085">
                <a:moveTo>
                  <a:pt x="0" y="0"/>
                </a:moveTo>
                <a:lnTo>
                  <a:pt x="6296860" y="0"/>
                </a:lnTo>
                <a:lnTo>
                  <a:pt x="6296860" y="1199820"/>
                </a:lnTo>
                <a:arcTo wR="21265" hR="21265" stAng="0" swAng="5400000"/>
                <a:lnTo>
                  <a:pt x="21265" y="1221085"/>
                </a:lnTo>
                <a:arcTo wR="21265" hR="21265" stAng="5400000" swAng="5400000"/>
                <a:lnTo>
                  <a:pt x="0" y="0"/>
                </a:lnTo>
                <a:close/>
              </a:path>
            </a:pathLst>
          </a:custGeom>
          <a:solidFill>
            <a:srgbClr val="2626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661475" y="3468687"/>
            <a:ext cx="6296860" cy="19050"/>
          </a:xfrm>
          <a:prstGeom prst="roundRect">
            <a:avLst>
              <a:gd name="adj" fmla="val 49999"/>
            </a:avLst>
          </a:prstGeom>
          <a:solidFill>
            <a:srgbClr val="3F3F4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831532" y="3638748"/>
            <a:ext cx="5956746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t>🇧🇷 Interface em Português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831532" y="4002584"/>
            <a:ext cx="5956746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t>Valores cadastrados em reais e experiência direcionada ao público brasileiro.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16560" y="5034260"/>
            <a:ext cx="6041775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t>A IntraTech demonstra uma base funcional para montagem assistida de PCs, com evolução planejada para interface gráfica e dados de mercado.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61475" y="4862016"/>
            <a:ext cx="19050" cy="861616"/>
          </a:xfrm>
          <a:prstGeom prst="roundRect">
            <a:avLst>
              <a:gd name="adj" fmla="val 49999"/>
            </a:avLst>
          </a:prstGeom>
          <a:gradFill>
            <a:gsLst>
              <a:gs pos="0">
                <a:srgbClr val="00B0F0"/>
              </a:gs>
              <a:gs pos="100000">
                <a:srgbClr val="7030A0"/>
              </a:gs>
            </a:gsLst>
            <a:lin ang="13500000" scaled="1"/>
          </a:gra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661475" y="5895876"/>
            <a:ext cx="6906444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Agradecemos pela atenção!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una">
  <a:themeElements>
    <a:clrScheme name="Duna">
      <a:dk1>
        <a:srgbClr val="131313"/>
      </a:dk1>
      <a:lt1>
        <a:sysClr val="window" lastClr="FFFFFF"/>
      </a:lt1>
      <a:dk2>
        <a:srgbClr val="272D2B"/>
      </a:dk2>
      <a:lt2>
        <a:srgbClr val="F0EDE6"/>
      </a:lt2>
      <a:accent1>
        <a:srgbClr val="647E6B"/>
      </a:accent1>
      <a:accent2>
        <a:srgbClr val="476262"/>
      </a:accent2>
      <a:accent3>
        <a:srgbClr val="9B8C69"/>
      </a:accent3>
      <a:accent4>
        <a:srgbClr val="BA988C"/>
      </a:accent4>
      <a:accent5>
        <a:srgbClr val="A27C7C"/>
      </a:accent5>
      <a:accent6>
        <a:srgbClr val="79958B"/>
      </a:accent6>
      <a:hlink>
        <a:srgbClr val="476262"/>
      </a:hlink>
      <a:folHlink>
        <a:srgbClr val="A27C7C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7A434096-21D7-44B8-8536-5670F4990977}" vid="{9E2B180D-3A1B-4983-B64A-9C133C18DC91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Dune</Template>
  <TotalTime>11</TotalTime>
  <Words>775</Words>
  <Application>Microsoft Office PowerPoint</Application>
  <PresentationFormat>Widescreen</PresentationFormat>
  <Paragraphs>110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7" baseType="lpstr">
      <vt:lpstr>Times New Roman</vt:lpstr>
      <vt:lpstr>Arial</vt:lpstr>
      <vt:lpstr>Noto Sans</vt:lpstr>
      <vt:lpstr>Neue Haas Grotesk Text Pro</vt:lpstr>
      <vt:lpstr>Noto Sans Bold</vt:lpstr>
      <vt:lpstr>Sora Medium</vt:lpstr>
      <vt:lpstr>Duna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ANDRE LUIS CABREIRA ROSA</cp:lastModifiedBy>
  <cp:revision>3</cp:revision>
  <dcterms:created xsi:type="dcterms:W3CDTF">2026-08-06T12:35:21Z</dcterms:created>
  <dcterms:modified xsi:type="dcterms:W3CDTF">2026-08-06T12:47:16Z</dcterms:modified>
</cp:coreProperties>
</file>